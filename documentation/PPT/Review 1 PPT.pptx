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69" r:id="rId3"/>
    <p:sldId id="257" r:id="rId4"/>
    <p:sldId id="281" r:id="rId5"/>
    <p:sldId id="273" r:id="rId6"/>
    <p:sldId id="268" r:id="rId7"/>
    <p:sldId id="272" r:id="rId8"/>
    <p:sldId id="271" r:id="rId9"/>
    <p:sldId id="270" r:id="rId10"/>
    <p:sldId id="265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89" autoAdjust="0"/>
  </p:normalViewPr>
  <p:slideViewPr>
    <p:cSldViewPr snapToGrid="0">
      <p:cViewPr>
        <p:scale>
          <a:sx n="73" d="100"/>
          <a:sy n="73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AI-ENABLE WATER WELL PREDICTOR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8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JAYAVADIVEL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64371385"/>
              </p:ext>
            </p:extLst>
          </p:nvPr>
        </p:nvGraphicFramePr>
        <p:xfrm>
          <a:off x="553347" y="2721840"/>
          <a:ext cx="6369313" cy="24689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303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20221CSE0030           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20221CSE0025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J MONICA JASMINE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VAIBHAVI NM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HARSHITHA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BTECH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 and Dr 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Refer- Annexure-1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Arial Black" panose="020B0A04020102020204" pitchFamily="34" charset="0"/>
                <a:ea typeface="Cambria" panose="02040503050406030204" pitchFamily="18" charset="0"/>
              </a:rPr>
              <a:t>Organization</a:t>
            </a:r>
            <a:r>
              <a:rPr lang="en-US" dirty="0">
                <a:ea typeface="Cambria" panose="02040503050406030204" pitchFamily="18" charset="0"/>
              </a:rPr>
              <a:t>: </a:t>
            </a:r>
            <a:r>
              <a:rPr lang="en-US" dirty="0">
                <a:latin typeface="+mn-lt"/>
                <a:ea typeface="Cambria" panose="02040503050406030204" pitchFamily="18" charset="0"/>
              </a:rPr>
              <a:t>Ministry of </a:t>
            </a:r>
            <a:r>
              <a:rPr lang="en-US" dirty="0" err="1">
                <a:latin typeface="+mn-lt"/>
                <a:ea typeface="Cambria" panose="02040503050406030204" pitchFamily="18" charset="0"/>
              </a:rPr>
              <a:t>jal</a:t>
            </a:r>
            <a:r>
              <a:rPr lang="en-US" dirty="0">
                <a:latin typeface="+mn-lt"/>
                <a:ea typeface="Cambria" panose="02040503050406030204" pitchFamily="18" charset="0"/>
              </a:rPr>
              <a:t> shakti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Arial Black" panose="020B0A04020102020204" pitchFamily="34" charset="0"/>
                <a:ea typeface="Cambria" panose="02040503050406030204" pitchFamily="18" charset="0"/>
              </a:rPr>
              <a:t>Category (Hardware / Software / Both) </a:t>
            </a:r>
            <a:r>
              <a:rPr lang="en-US" dirty="0">
                <a:ea typeface="Cambria" panose="02040503050406030204" pitchFamily="18" charset="0"/>
              </a:rPr>
              <a:t>:</a:t>
            </a:r>
            <a:r>
              <a:rPr lang="en-US" dirty="0">
                <a:latin typeface="+mn-lt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Arial Black" panose="020B0A04020102020204" pitchFamily="34" charset="0"/>
                <a:ea typeface="Cambria" panose="02040503050406030204" pitchFamily="18" charset="0"/>
              </a:rPr>
              <a:t>Problem Description </a:t>
            </a:r>
            <a:r>
              <a:rPr lang="en-US" dirty="0">
                <a:ea typeface="Cambria" panose="02040503050406030204" pitchFamily="18" charset="0"/>
              </a:rPr>
              <a:t>:</a:t>
            </a:r>
            <a:r>
              <a:rPr lang="en-US" dirty="0">
                <a:latin typeface="+mn-lt"/>
              </a:rPr>
              <a:t>The project will likely involve analyzing </a:t>
            </a:r>
            <a:r>
              <a:rPr lang="en-US" dirty="0"/>
              <a:t>geological </a:t>
            </a:r>
            <a:r>
              <a:rPr lang="en-US" dirty="0">
                <a:latin typeface="+mn-lt"/>
              </a:rPr>
              <a:t>and environmental data to predict optimal locations for drilling water wells, which addresses a common need for sustainable water resources.</a:t>
            </a:r>
            <a:endParaRPr lang="en-US" dirty="0">
              <a:latin typeface="+mn-lt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39097" y="1032387"/>
            <a:ext cx="10982631" cy="514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Abstract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Literature Survey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Objectives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Existing Methods and Drawbacks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Proposed Method &amp; Feasibility Study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Hardware and 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Timeline (Gantt Chart)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3800" dirty="0"/>
              <a:t>References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ED6123-2D4B-F395-7830-6391E36DD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325942"/>
              </p:ext>
            </p:extLst>
          </p:nvPr>
        </p:nvGraphicFramePr>
        <p:xfrm>
          <a:off x="546538" y="367862"/>
          <a:ext cx="11067390" cy="6111736"/>
        </p:xfrm>
        <a:graphic>
          <a:graphicData uri="http://schemas.openxmlformats.org/drawingml/2006/table">
            <a:tbl>
              <a:tblPr/>
              <a:tblGrid>
                <a:gridCol w="2213478">
                  <a:extLst>
                    <a:ext uri="{9D8B030D-6E8A-4147-A177-3AD203B41FA5}">
                      <a16:colId xmlns:a16="http://schemas.microsoft.com/office/drawing/2014/main" val="3532561589"/>
                    </a:ext>
                  </a:extLst>
                </a:gridCol>
                <a:gridCol w="2213478">
                  <a:extLst>
                    <a:ext uri="{9D8B030D-6E8A-4147-A177-3AD203B41FA5}">
                      <a16:colId xmlns:a16="http://schemas.microsoft.com/office/drawing/2014/main" val="2466203577"/>
                    </a:ext>
                  </a:extLst>
                </a:gridCol>
                <a:gridCol w="2213478">
                  <a:extLst>
                    <a:ext uri="{9D8B030D-6E8A-4147-A177-3AD203B41FA5}">
                      <a16:colId xmlns:a16="http://schemas.microsoft.com/office/drawing/2014/main" val="1596435048"/>
                    </a:ext>
                  </a:extLst>
                </a:gridCol>
                <a:gridCol w="2213478">
                  <a:extLst>
                    <a:ext uri="{9D8B030D-6E8A-4147-A177-3AD203B41FA5}">
                      <a16:colId xmlns:a16="http://schemas.microsoft.com/office/drawing/2014/main" val="2508366049"/>
                    </a:ext>
                  </a:extLst>
                </a:gridCol>
                <a:gridCol w="2213478">
                  <a:extLst>
                    <a:ext uri="{9D8B030D-6E8A-4147-A177-3AD203B41FA5}">
                      <a16:colId xmlns:a16="http://schemas.microsoft.com/office/drawing/2014/main" val="4223735712"/>
                    </a:ext>
                  </a:extLst>
                </a:gridCol>
              </a:tblGrid>
              <a:tr h="304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Paper</a:t>
                      </a:r>
                    </a:p>
                    <a:p>
                      <a:pPr>
                        <a:buNone/>
                      </a:pPr>
                      <a:endParaRPr lang="en-IN" sz="1300" dirty="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Research About</a:t>
                      </a:r>
                    </a:p>
                    <a:p>
                      <a:pPr>
                        <a:buNone/>
                      </a:pPr>
                      <a:endParaRPr lang="en-IN" sz="1300" b="1" dirty="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Study Area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Focus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Limitations / Gaps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64690"/>
                  </a:ext>
                </a:extLst>
              </a:tr>
              <a:tr h="952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Iqbal et al. (2021)</a:t>
                      </a:r>
                      <a:endParaRPr lang="en-IN" sz="1300" dirty="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Groundwater level prediction using ensemble ML models and borehole data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Borehole datasets (Korea &amp; Pakistan)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Improving drilling efficiency and sustainable water resource management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Focused mainly on borehole depth; limited inclusion of water quality aspects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804659"/>
                  </a:ext>
                </a:extLst>
              </a:tr>
              <a:tr h="952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Kisten et al. (2024)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Explainable AI model for predictive maintenance in smart agriculture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Smart agricultural facilities (South Africa)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Adding explainability to AI models for agriculture equipment maintenance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Not groundwater-specific; relevance is only in AI explainability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118588"/>
                  </a:ext>
                </a:extLst>
              </a:tr>
              <a:tr h="952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Agrawal et al. (2021)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 techniques (SVM, Naïve Bayes, PSO) for groundwater quality assessment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Pindrawan tank area, Chhattisgarh, India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Predicting Water Quality Index (WQI) quickly and accurately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Tested only in one area; scalability and generalization uncertain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465443"/>
                  </a:ext>
                </a:extLst>
              </a:tr>
              <a:tr h="870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Rammohan et al. (2024)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Groundwater quality prediction using ML + GIS integration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/>
                        <a:t>Kanchipuram district, Tamil Nadu, India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Classifying and predicting water quality with spatial visualization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Region-specific; needs large datasets and strong GIS support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540199"/>
                  </a:ext>
                </a:extLst>
              </a:tr>
              <a:tr h="952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Kumar &amp; Bhattacharjya (2021)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GRNN models with GRACE satellite + rainfall/temperature for groundwater fluctuation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Uttarakhand, India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Predicting groundwater fluctuation where borehole data is limited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300"/>
                        <a:t>Dependent on satellite data; accuracy limited in sparse-data regions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419946"/>
                  </a:ext>
                </a:extLst>
              </a:tr>
              <a:tr h="952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Supreetha et al. (2022)</a:t>
                      </a:r>
                      <a:endParaRPr lang="en-IN" sz="1300"/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Hybrid LSTM + Lion Algorithm for groundwater level forecasting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Udupi district, Karnataka, India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Enhancing accuracy of time-series groundwater forecasting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Tested only in one district; computationally heavy for large datasets</a:t>
                      </a:r>
                    </a:p>
                  </a:txBody>
                  <a:tcPr marL="81643" marR="81643" marT="40821" marB="40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517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17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Abstract 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72AFCC-B55C-4E33-CC89-EA48D341B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994" y="1295814"/>
            <a:ext cx="12192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Groundwater is vital for domestic, agricultural, and industrial use but is threatened by overexploitation, climate change, and contamination.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well prediction methods rely on limited borehole data and manual analysis, leading to inefficiency and inaccuracy.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project develops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AI-enabled Water Well Predictor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software-based system for groundwater level forecasting and well suitability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leverages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and deep learning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ensemble learning, SVM, neural networks, and hybrid LSTM-based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borehole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hydrological patterns, and rainfall information are used to predict groundwater fluctuations and drilling depth.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Geospatial and correlation-based mechanisms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 predictions, even in areas with limited borehole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also evaluates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quality indices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AI-driven models, enabling safe and sustainable groundwater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on real-world datasets shows high prediction accuracy, outperforming traditional statistical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software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reduction, efficiency improvement, and sustainable groundwater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irrigation, urban supply, and environmental planning.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Literature Survey (Overview) 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157315" y="4084151"/>
            <a:ext cx="11936361" cy="193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C5F197-F6F3-B4CF-DE58-80782E669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47621"/>
            <a:ext cx="1193636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for Groundwater Levels: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Researchers 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models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Random Forest, etc.)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groundwater levels from borehole data, improving drilling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for Water Quality: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Studies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SVM, Naïve Bayes, and optimization algorithms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calculate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Quality Index (WQI)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high accuracy, saving time compared to manual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 and AI Integration: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models combined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Geographical Information Systems (GIS)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helped predict and visualize groundwater quality, useful for selecting well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Networks for Fluctuation: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GRNN models with satellite, rainfall, and temperature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predicted groundwater levels even where borehole data is limited.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Forecasting: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 LSTM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gave better accuracy in forecasting groundwater levels compared to traditional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in Agriculture: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XAI (Explainable 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smart farming shows the importance of making AI models transparent and user-friendly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3675" y="0"/>
            <a:ext cx="10717125" cy="602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8681D-3F12-B30F-3C29-003D3ED27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0677" y="1381723"/>
            <a:ext cx="117867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predict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groundwater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AI-based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well suitability and drilling depth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efficient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groundwater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AI-driven Water Quality Index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geospatial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visualization and well location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groundwater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accurate and user-friendly software.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1033864" y="14400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Existing Methods &amp; Drawbacks (Elaborated) 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AE4C0D-BF7C-8E08-F124-4F07A3A96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77777"/>
            <a:ext cx="121920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 Traditional Hydrogeological Surveys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Groundwater levels and well suitability are estimated through manual borehole drilling, soil/rock analysis, and field surveys.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costly.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coverage, as surveys cannot be conducted everywhere.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Inaccurate in dynamic conditions (e.g., climate change, seasonal variations).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Statistical and Mathematical Models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Regression equations and time-series models are used to predict groundwater fluctuations.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well only with large, clean datasets.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handling of non-linear and complex groundwater patterns.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adaptability to changing environmental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Water Quality Index (WQI) Manual Calculations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WQI is derived by measuring multiple chemical and physical water parameters in the lab and combining them into an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Lengthy and error-prone calculation process.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large datasets and laboratory testing.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Existing Methods &amp; Drawbacks (Elaborated) 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F1ECE-BE71-39FF-4574-459119110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3" y="1289834"/>
            <a:ext cx="106394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4) Machine Learning with Limited Scope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of single ML algorithms like SVM, Naïve Bayes, or ANN for groundwater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depends heavily on the quality of input data.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often overfit and fail in unseen regions.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handle missing or sparse borehole data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5) GIS-Only Mapping Approaches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Geographical Information Systems (GIS) used for spatial mapping of groundwater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for visualization, but not predictive on their own.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integration with AI models for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Proposed Method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1190869" y="5380389"/>
            <a:ext cx="9592408" cy="6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561A79-ED6D-F595-CEAD-D59F811745E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0579" y="1308147"/>
            <a:ext cx="1189724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Gather borehole, rainfall, soil, and water quality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Clean and organize the data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ML/DL models (Ensemble, LSTM, GRNN) to predict: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Groundwater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Drilling depth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Quality Index (WQI)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 Integration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Map results to show safe zones for well drilling.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Tool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Build a simple interface to display predictions and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Test predictions with real-world data for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01B44-547B-589E-F342-E0520E83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9F49F-256F-9F24-4F3C-838F37AE5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900" b="1" dirty="0"/>
              <a:t>.  Technical Feasibility</a:t>
            </a:r>
            <a:endParaRPr lang="en-US" sz="1900" dirty="0"/>
          </a:p>
          <a:p>
            <a:pPr lvl="1"/>
            <a:r>
              <a:rPr lang="en-US" sz="1900" dirty="0"/>
              <a:t>AI models (ML/DL) and GIS tools are readily available.</a:t>
            </a:r>
          </a:p>
          <a:p>
            <a:pPr lvl="1"/>
            <a:r>
              <a:rPr lang="en-US" sz="1900" dirty="0"/>
              <a:t>Software can be built using Python, TensorFlow, and open-source libraries.</a:t>
            </a:r>
          </a:p>
          <a:p>
            <a:r>
              <a:rPr lang="en-US" sz="1900" b="1" dirty="0"/>
              <a:t>Economic Feasibility</a:t>
            </a:r>
            <a:endParaRPr lang="en-US" sz="1900" dirty="0"/>
          </a:p>
          <a:p>
            <a:pPr lvl="1"/>
            <a:r>
              <a:rPr lang="en-US" sz="1900" dirty="0"/>
              <a:t>Cost is low since most tools and datasets are open-source.</a:t>
            </a:r>
          </a:p>
          <a:p>
            <a:pPr lvl="1"/>
            <a:r>
              <a:rPr lang="en-US" sz="1900" dirty="0"/>
              <a:t>Saves money compared to manual surveys and drilling trials.</a:t>
            </a:r>
          </a:p>
          <a:p>
            <a:r>
              <a:rPr lang="en-US" sz="1900" b="1" dirty="0"/>
              <a:t>Operational Feasibility</a:t>
            </a:r>
            <a:endParaRPr lang="en-US" sz="1900" dirty="0"/>
          </a:p>
          <a:p>
            <a:pPr lvl="1"/>
            <a:r>
              <a:rPr lang="en-US" sz="1900" dirty="0"/>
              <a:t>User-friendly software interface makes it easy for farmers, planners, and authorities.</a:t>
            </a:r>
          </a:p>
          <a:p>
            <a:pPr lvl="1"/>
            <a:r>
              <a:rPr lang="en-US" sz="1900" dirty="0"/>
              <a:t>Provides quick predictions and recommendations for decision-making.</a:t>
            </a:r>
          </a:p>
          <a:p>
            <a:r>
              <a:rPr lang="en-US" sz="1900" b="1" dirty="0"/>
              <a:t>Social &amp; Environmental Feasibility</a:t>
            </a:r>
            <a:endParaRPr lang="en-US" sz="1900" dirty="0"/>
          </a:p>
          <a:p>
            <a:pPr lvl="1"/>
            <a:r>
              <a:rPr lang="en-US" sz="1900" dirty="0"/>
              <a:t>Helps ensure safe drinking water and sustainable groundwater use.</a:t>
            </a:r>
          </a:p>
          <a:p>
            <a:pPr lvl="1"/>
            <a:r>
              <a:rPr lang="en-US" sz="1900" dirty="0"/>
              <a:t>Reduces over-extraction and supports community water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639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8236-3562-1A27-CCD9-A168B835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 &amp; Explanation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3DC7B-CA68-FF7C-AD45-E8E49F54D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143" y="1065125"/>
            <a:ext cx="10776855" cy="551823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970F4-4CE9-8BE5-A998-25D268DAA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43" y="1268543"/>
            <a:ext cx="6607113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8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3B8D-C332-93EB-3A50-4D9EAF67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 &amp; Explanation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0EA3E8-2F28-F6D3-6619-6F8C65348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8825"/>
            <a:ext cx="11480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system collects borehole, rainfall, and soil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Different AI techniques are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models → predict groundwater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LSTM/GRNN → forecast fluctuations.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SVM/Naïve Bayes → check water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All results are shown in a simple software interface with maps and graphs.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system helps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groundwater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 suitable drilling depth.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water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results for easy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98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887F-B1A3-F172-191C-3E8600FF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548CC3-59C4-5B6F-CF72-A26FCD190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0822" y="1201341"/>
            <a:ext cx="1130997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borehole, rainfall, soil, and water quality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Cleans and organizes data, handles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Groundwater Prediction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AI models (Ensemble, LSTM, GRNN) to forecast groundwater levels and fluctuations.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Quality Analysis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Water Quality Index (WQI) using ML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GIS &amp; Visualization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 results and shows safe drilling zones.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easy access to predictions, reports, and recommendations 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92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D18E-8B02-C550-4CDD-628B2717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Stack(Hardware and Software Details) 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C7AB-A72F-AE0B-5223-A95D295AB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900" b="1" dirty="0"/>
              <a:t>Software Requirements</a:t>
            </a:r>
          </a:p>
          <a:p>
            <a:r>
              <a:rPr lang="en-IN" sz="1900" b="1" dirty="0"/>
              <a:t>Programming Language</a:t>
            </a:r>
            <a:r>
              <a:rPr lang="en-IN" sz="1900" dirty="0"/>
              <a:t>: Python (primary for AI/ML models)</a:t>
            </a:r>
          </a:p>
          <a:p>
            <a:r>
              <a:rPr lang="en-IN" sz="1900" b="1" dirty="0"/>
              <a:t>Frameworks &amp; Libraries</a:t>
            </a:r>
            <a:r>
              <a:rPr lang="en-IN" sz="1900" dirty="0"/>
              <a:t>:</a:t>
            </a:r>
          </a:p>
          <a:p>
            <a:pPr lvl="1"/>
            <a:r>
              <a:rPr lang="en-IN" sz="1900" dirty="0"/>
              <a:t>TensorFlow / </a:t>
            </a:r>
            <a:r>
              <a:rPr lang="en-IN" sz="1900" dirty="0" err="1"/>
              <a:t>Keras</a:t>
            </a:r>
            <a:r>
              <a:rPr lang="en-IN" sz="1900" dirty="0"/>
              <a:t> – for Deep Learning (LSTM, GRNN)</a:t>
            </a:r>
          </a:p>
          <a:p>
            <a:pPr lvl="1"/>
            <a:r>
              <a:rPr lang="en-IN" sz="1900" dirty="0"/>
              <a:t>Scikit-learn – for Machine Learning (SVM, Random Forest, Naïve Bayes, </a:t>
            </a:r>
            <a:r>
              <a:rPr lang="en-IN" sz="1900" dirty="0" err="1"/>
              <a:t>XGBoost</a:t>
            </a:r>
            <a:r>
              <a:rPr lang="en-IN" sz="1900" dirty="0"/>
              <a:t>)</a:t>
            </a:r>
          </a:p>
          <a:p>
            <a:pPr lvl="1"/>
            <a:r>
              <a:rPr lang="en-IN" sz="1900" dirty="0"/>
              <a:t>Pandas &amp; NumPy – for data handling and preprocessing</a:t>
            </a:r>
          </a:p>
          <a:p>
            <a:pPr lvl="1"/>
            <a:r>
              <a:rPr lang="en-IN" sz="1900" dirty="0"/>
              <a:t>Matplotlib / Seaborn – for visualization</a:t>
            </a:r>
          </a:p>
          <a:p>
            <a:pPr lvl="1"/>
            <a:r>
              <a:rPr lang="en-IN" sz="1900" dirty="0"/>
              <a:t>GIS Libraries (e.g., QGIS, </a:t>
            </a:r>
            <a:r>
              <a:rPr lang="en-IN" sz="1900" dirty="0" err="1"/>
              <a:t>GeoPandas</a:t>
            </a:r>
            <a:r>
              <a:rPr lang="en-IN" sz="1900" dirty="0"/>
              <a:t>, Folium) – for mapping</a:t>
            </a:r>
          </a:p>
          <a:p>
            <a:r>
              <a:rPr lang="en-IN" sz="1900" b="1" dirty="0"/>
              <a:t>Database</a:t>
            </a:r>
            <a:r>
              <a:rPr lang="en-IN" sz="1900" dirty="0"/>
              <a:t>: MySQL / SQLite (to store borehole, rainfall, and water quality data)</a:t>
            </a:r>
          </a:p>
          <a:p>
            <a:r>
              <a:rPr lang="en-IN" sz="1900" b="1" dirty="0"/>
              <a:t>Frontend (Optional)</a:t>
            </a:r>
            <a:r>
              <a:rPr lang="en-IN" sz="1900" dirty="0"/>
              <a:t>: HTML, CSS, JavaScript (for web interface)</a:t>
            </a:r>
          </a:p>
          <a:p>
            <a:r>
              <a:rPr lang="en-IN" sz="1900" b="1" dirty="0"/>
              <a:t>Backend (Optional)</a:t>
            </a:r>
            <a:r>
              <a:rPr lang="en-IN" sz="1900" dirty="0"/>
              <a:t>: Flask / Django (to connect AI models with the UI)</a:t>
            </a:r>
          </a:p>
          <a:p>
            <a:r>
              <a:rPr lang="en-IN" sz="1900" b="1" dirty="0"/>
              <a:t>IDE/Tools</a:t>
            </a:r>
            <a:r>
              <a:rPr lang="en-IN" sz="1900" dirty="0"/>
              <a:t>: </a:t>
            </a:r>
            <a:r>
              <a:rPr lang="en-IN" sz="1900" dirty="0" err="1"/>
              <a:t>Jupyter</a:t>
            </a:r>
            <a:r>
              <a:rPr lang="en-IN" sz="1900" dirty="0"/>
              <a:t> Notebook / PyCharm / VS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143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8A07-E9A0-C446-C619-B1856227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31525-6CB7-593D-BF3C-1D338E99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822" y="1517301"/>
            <a:ext cx="11309978" cy="565722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6E3A06-EB9C-D08F-3A1F-A0F93BEFD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92" y="1045029"/>
            <a:ext cx="11183816" cy="497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5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CFC3-7AEC-369E-47B5-77C6E005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473E6D-950D-2C26-3829-9988A8ECB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386" y="1138969"/>
            <a:ext cx="1211161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N. Iqbal, A.-N. Khan, A. Rizwan, R. Ahmad, B. W. Kim, K. Kim, and D.-H. Kim,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“Groundwater Level Prediction Model Using Correlation and Difference Mechanisms Based on Boreholes Data for Sustainable Hydraulic Resource Management,”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Access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9, pp. 96092–96112, Jul. 2021,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10.1109/ACCESS.2021.3094735.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M. Kisten, A. E.-S. Ezugwu, and M. O. Olusanya,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“Explainable Artificial Intelligence Model for Predictive Maintenance in Smart Agricultural Facilities,”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Access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12, pp. 24348–24364, Feb. 2024,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10.1109/ACCESS.2024.3365586.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 P. Agrawal, A. Sinha, S. Kumar, A. Agarwal, A. Banerjee, V. G. K.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Villuri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C. S. R.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Annavarapu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R. Dwivedi, V. V. R. Dera, J. Sinha, and S. Pasupuleti,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“Exploring Artificial Intelligence Techniques for Groundwater Quality Assessment,”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13, no. 9, p. 1172, Apr. 2021,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10.3390/w13091172.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[4] B. Rammohan, P. Partheeban, R. Ranganathan, and S. Balaraman,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“Groundwater Quality Prediction and Analysis Using Machine Learning Models and Geospatial Technology,”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16, no. 22, p. 9848, Nov. 2024,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10.3390/su16229848.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[5] D. Kumar and R. K. Bhattacharjya,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“GRNN Model for Prediction of Groundwater Fluctuation in the State of Uttarakhand of India Using GRACE Data Under Limited Bore Well Data,”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Hydroinformatics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23, no. 3, pp. 567–582, Mar. 2021,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10.2166/hydro.2021.108.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[6] S. B. Supreetha, N. Shenoy, and P. Nayak,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“Lion Algorithm-Optimized Long Short-Term Memory Network for Groundwater Level Forecasting in Udupi District, India,”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Computational Intelligence and Soft Computing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2022, pp. 1–13, 2022,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10.1155/2022/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xxxxxx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35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5079</TotalTime>
  <Words>2081</Words>
  <Application>Microsoft Office PowerPoint</Application>
  <PresentationFormat>Widescreen</PresentationFormat>
  <Paragraphs>206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Cambria</vt:lpstr>
      <vt:lpstr>Verdana</vt:lpstr>
      <vt:lpstr>Wingdings</vt:lpstr>
      <vt:lpstr>Bioinformatics</vt:lpstr>
      <vt:lpstr>AI-ENABLE WATER WELL PREDICTOR</vt:lpstr>
      <vt:lpstr>Problem Statement Number: PSCS_8</vt:lpstr>
      <vt:lpstr>Content</vt:lpstr>
      <vt:lpstr>PowerPoint Presentation</vt:lpstr>
      <vt:lpstr>Abstract :</vt:lpstr>
      <vt:lpstr>Literature Survey (Overview) :</vt:lpstr>
      <vt:lpstr>Objectives</vt:lpstr>
      <vt:lpstr>Existing Methods &amp; Drawbacks (Elaborated) :</vt:lpstr>
      <vt:lpstr>Existing Methods &amp; Drawbacks (Elaborated) :</vt:lpstr>
      <vt:lpstr>Proposed Method </vt:lpstr>
      <vt:lpstr>Feasibility Study</vt:lpstr>
      <vt:lpstr>architecture Diagram &amp; Explanation</vt:lpstr>
      <vt:lpstr>architecture Diagram &amp; Explanation</vt:lpstr>
      <vt:lpstr>Modules :</vt:lpstr>
      <vt:lpstr>Technology Stack(Hardware and Software Details) :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vaibhavinariyoor .</cp:lastModifiedBy>
  <cp:revision>47</cp:revision>
  <dcterms:modified xsi:type="dcterms:W3CDTF">2025-09-10T06:47:26Z</dcterms:modified>
</cp:coreProperties>
</file>